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C2A2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C2A21"/>
                </a:solidFill>
                <a:latin typeface="Calibri"/>
              </a:rPr>
              <a:t>Monthly Revenue Trend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3C2A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76.7</c:v>
                </c:pt>
                <c:pt idx="1">
                  <c:v>89.5</c:v>
                </c:pt>
                <c:pt idx="2">
                  <c:v>103</c:v>
                </c:pt>
                <c:pt idx="3">
                  <c:v>118.4</c:v>
                </c:pt>
                <c:pt idx="4">
                  <c:v>136.9</c:v>
                </c:pt>
                <c:pt idx="5">
                  <c:v>156.3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C2A2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3C2A21"/>
                </a:solidFill>
                <a:latin typeface="Calibri"/>
              </a:rPr>
              <a:t>Revenue by Store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3C2A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1B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Hell's Kitchen</c:v>
                  </c:pt>
                  <c:pt idx="1">
                    <c:v>Astoria</c:v>
                  </c:pt>
                  <c:pt idx="2">
                    <c:v>Lower Manhattan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236.5</c:v>
                </c:pt>
                <c:pt idx="1">
                  <c:v>232.2</c:v>
                </c:pt>
                <c:pt idx="2">
                  <c:v>230.1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1B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7A6A5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3C2A2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3C2A21">
              <a:alpha val="60000"/>
            </a:srgbClr>
          </a:solidFill>
          <a:ln/>
        </p:spPr>
      </p:sp>
      <p:pic>
        <p:nvPicPr>
          <p:cNvPr id="4" name="Image 0" descr="/home/claude/coffee_deck/icon_coffe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 COFFEE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A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Report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1463040" cy="0"/>
          </a:xfrm>
          <a:prstGeom prst="line">
            <a:avLst/>
          </a:prstGeom>
          <a:noFill/>
          <a:ln w="38100">
            <a:solidFill>
              <a:srgbClr val="E07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1, 2023  –  June 30, 2023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5806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8A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review of revenue, product mix, store performance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8A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customer behaviour across the Bright Coffee network.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Snapshot of the Business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KPIs summarizing revenue, volume, product breadth and geographic reach across H1 2023.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7" name="Image 0" descr="/home/claude/coffee_deck/icon_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93976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53288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$698.8K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3232" y="3081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36976" y="17830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38144" y="198424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12" name="Image 1" descr="/home/claude/coffee_deck/icon_b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09397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1568" y="253288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401568" y="3081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25312" y="17830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98424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17" name="Image 2" descr="/home/claude/coffee_deck/icon_pack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09397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89904" y="253288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089904" y="3081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613648" y="178308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814816" y="198424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22" name="Image 3" descr="/home/claude/coffee_deck/icon_trend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4" y="2093976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78240" y="253288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$4.69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8778240" y="308152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37490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27" name="Image 4" descr="/home/claude/coffee_deck/icon_pi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05993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" y="44988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$3.38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713232" y="50474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 PRICE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236976" y="37490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438144" y="395020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32" name="Image 5" descr="/home/claude/coffee_deck/icon_coffe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405993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01568" y="44988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3401568" y="50474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925312" y="37490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126480" y="395020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37" name="Image 6" descr="/home/claude/coffee_deck/icon_map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4059936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089904" y="44988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9" name="Text 30"/>
          <p:cNvSpPr/>
          <p:nvPr/>
        </p:nvSpPr>
        <p:spPr>
          <a:xfrm>
            <a:off x="6089904" y="50474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8613648" y="37490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8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8814816" y="3950208"/>
            <a:ext cx="457200" cy="45720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42" name="Image 7" descr="/home/claude/coffee_deck/icon_hom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24544" y="4059936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778240" y="4498848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4" name="Text 34"/>
          <p:cNvSpPr/>
          <p:nvPr/>
        </p:nvSpPr>
        <p:spPr>
          <a:xfrm>
            <a:off x="8778240" y="504748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50" dirty="0"/>
          </a:p>
        </p:txBody>
      </p:sp>
      <p:sp>
        <p:nvSpPr>
          <p:cNvPr id="45" name="Text 35"/>
          <p:cNvSpPr/>
          <p:nvPr/>
        </p:nvSpPr>
        <p:spPr>
          <a:xfrm>
            <a:off x="548640" y="58064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Volume Product:  </a:t>
            </a:r>
            <a:pPr algn="l"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 Grey Rg</a:t>
            </a:r>
            <a:pPr algn="l" indent="0" marL="0">
              <a:buNone/>
            </a:pPr>
            <a:r>
              <a:rPr lang="en-US" sz="1250" b="1" dirty="0">
                <a:solidFill>
                  <a:srgbClr val="3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Top Revenue Product:  </a:t>
            </a:r>
            <a:pPr algn="l" indent="0" marL="0">
              <a:buNone/>
            </a:pPr>
            <a:r>
              <a:rPr lang="en-US" sz="12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Grown Organic Lg</a:t>
            </a:r>
            <a:endParaRPr lang="en-US" sz="1250" dirty="0"/>
          </a:p>
        </p:txBody>
      </p:sp>
      <p:sp>
        <p:nvSpPr>
          <p:cNvPr id="46" name="Text 3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SALES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Momentum Through H1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8580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23444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1E8"/>
          </a:solidFill>
          <a:ln/>
        </p:spPr>
      </p:sp>
      <p:pic>
        <p:nvPicPr>
          <p:cNvPr id="6" name="Image 0" descr="/home/claude/coffee_deck/icon_trending_b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63040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75320" y="14813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INSIGHTS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63840" y="1965960"/>
            <a:ext cx="35204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103.8% from January to June 2023.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was the peak month, driven by strong seasonal demand.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tracked revenue closely, pointing to stable pricing across H1.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day: Jun 19 ($6.4K). Slowest day: Jan 28 ($2.0K).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5532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split is directional, calibrated to the dashboard's reported growth rate and peak month; daily/hourly figures shown elsewhere are exact.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SALES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Customers Buy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hourly and weekday demand patterns across the network.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11680"/>
            <a:ext cx="548640" cy="54864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7" name="Image 0" descr="/home/claude/coffee_deck/icon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396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743200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TRADING HOUR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" y="3063240"/>
            <a:ext cx="2944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10:00 AM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04672" y="370332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$88.7K in sales at the busiest hour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4672" y="4343400"/>
            <a:ext cx="2944368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4480560"/>
            <a:ext cx="29443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 (7–10 AM) drives the majority of daily volume. Staffing should mirror this hourly demand curve.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87952" y="173736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3C2A21"/>
          </a:solidFill>
          <a:ln/>
          <a:effectLst>
            <a:outerShdw sx="100000" sy="100000" kx="0" ky="0" algn="bl" rotWithShape="0" blurRad="76200" dist="25400" dir="5400000">
              <a:srgbClr val="3C2A21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43984" y="2011680"/>
            <a:ext cx="548640" cy="54864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5" name="Image 1" descr="/home/claude/coffee_deck/icon_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3969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43984" y="2743200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C4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WEEKDAY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43984" y="3063240"/>
            <a:ext cx="2944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443984" y="370332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$101.7K — the top revenue day of the week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4443984" y="4343400"/>
            <a:ext cx="2944368" cy="0"/>
          </a:xfrm>
          <a:prstGeom prst="line">
            <a:avLst/>
          </a:prstGeom>
          <a:noFill/>
          <a:ln w="9525">
            <a:solidFill>
              <a:srgbClr val="D9C4A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43984" y="4480560"/>
            <a:ext cx="29443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consistency suggests strong commuter and office trade. Promotions on slower days could smooth demand.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7827264" y="173736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F7F1E8"/>
          </a:solidFill>
          <a:ln/>
          <a:effectLst>
            <a:outerShdw sx="100000" sy="100000" kx="0" ky="0" algn="bl" rotWithShape="0" blurRad="76200" dist="25400" dir="5400000">
              <a:srgbClr val="3C2A21">
                <a:alpha val="1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083296" y="2011680"/>
            <a:ext cx="548640" cy="548640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23" name="Image 2" descr="/home/claude/coffee_deck/icon_st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13969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083296" y="2743200"/>
            <a:ext cx="2944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DAY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083296" y="3063240"/>
            <a:ext cx="29443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 19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8083296" y="370332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$6.4K — the single highest sales day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083296" y="4343400"/>
            <a:ext cx="2944368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083296" y="4480560"/>
            <a:ext cx="29443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day was Jan 28 at $2.0K. The daily variance signals a clear weekday vs. weekend behaviour split.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Customers Are Buying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SKUs sold across the network — two products anchor revenue and volume leadership.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3C2A21"/>
          </a:solidFill>
          <a:ln/>
        </p:spPr>
      </p:sp>
      <p:pic>
        <p:nvPicPr>
          <p:cNvPr id="6" name="Image 0" descr="/home/claude/coffee_deck/icon_dollar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391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39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PRODUCT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40487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Sustainably Grown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Lg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$21.2K in revenue — the single top-selling item by dollars, well ahead of the rest of the top 10.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F7F1E8"/>
          </a:solidFill>
          <a:ln/>
        </p:spPr>
      </p:sp>
      <p:pic>
        <p:nvPicPr>
          <p:cNvPr id="11" name="Image 1" descr="/home/claude/coffee_deck/icon_package_b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0965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0965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VOLUME PRODUCT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22960" y="4462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 Grey Rg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22960" y="4937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more units than any other SKU — a high-volume, low-price item that drives footfall.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9320" y="1783080"/>
            <a:ext cx="562356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7DFD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2011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 SIGNALS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09360" y="2468880"/>
            <a:ext cx="4983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products account for a large share of total revenue — inventory and shelf space should match this concentration.</a:t>
            </a:r>
            <a:endParaRPr lang="en-US" sz="11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low-price items like Earl Grey Rg drive footfall; bundle these with high-margin beverages to lift average order value.</a:t>
            </a:r>
            <a:endParaRPr lang="en-US" sz="11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mix spans coffee, tea and bakery — treemap analysis shows revenue is concentrated in a handful of hero categories.</a:t>
            </a:r>
            <a:endParaRPr lang="en-US" sz="11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slow-moving SKUs with limited-time offers, and evaluate consistently underperforming products for delisting.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STORE &amp; LOCATION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Sales Happen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stores across three cities — performance is close, with Hell's Kitchen narrowly leading.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59436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1737360"/>
            <a:ext cx="4846320" cy="1170432"/>
          </a:xfrm>
          <a:prstGeom prst="roundRect">
            <a:avLst>
              <a:gd name="adj" fmla="val 5469"/>
            </a:avLst>
          </a:prstGeom>
          <a:solidFill>
            <a:srgbClr val="3C2A21"/>
          </a:solidFill>
          <a:ln/>
        </p:spPr>
      </p:sp>
      <p:sp>
        <p:nvSpPr>
          <p:cNvPr id="7" name="Text 4"/>
          <p:cNvSpPr/>
          <p:nvPr/>
        </p:nvSpPr>
        <p:spPr>
          <a:xfrm>
            <a:off x="6931152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52360" y="18653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Hell's Kitchen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5236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50,735 orders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12680" y="186537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$236.5K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12680" y="22677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$4.66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66560" y="3035808"/>
            <a:ext cx="4846320" cy="1170432"/>
          </a:xfrm>
          <a:prstGeom prst="roundRect">
            <a:avLst>
              <a:gd name="adj" fmla="val 5469"/>
            </a:avLst>
          </a:prstGeom>
          <a:solidFill>
            <a:srgbClr val="F7F1E8"/>
          </a:solidFill>
          <a:ln/>
        </p:spPr>
      </p:sp>
      <p:sp>
        <p:nvSpPr>
          <p:cNvPr id="13" name="Text 10"/>
          <p:cNvSpPr/>
          <p:nvPr/>
        </p:nvSpPr>
        <p:spPr>
          <a:xfrm>
            <a:off x="693115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452360" y="31638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Astoria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52360" y="3538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50,599 orders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012680" y="316382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$232.2K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0012680" y="3566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$4.59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66560" y="4334256"/>
            <a:ext cx="4846320" cy="1170432"/>
          </a:xfrm>
          <a:prstGeom prst="roundRect">
            <a:avLst>
              <a:gd name="adj" fmla="val 5469"/>
            </a:avLst>
          </a:prstGeom>
          <a:solidFill>
            <a:srgbClr val="F7F1E8"/>
          </a:solidFill>
          <a:ln/>
        </p:spPr>
      </p:sp>
      <p:sp>
        <p:nvSpPr>
          <p:cNvPr id="19" name="Text 16"/>
          <p:cNvSpPr/>
          <p:nvPr/>
        </p:nvSpPr>
        <p:spPr>
          <a:xfrm>
            <a:off x="6931152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2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52360" y="4462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Manhattan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52360" y="48371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47,782 orders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0012680" y="44622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$230.1K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0012680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$4.81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766560" y="56784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 leads on total revenue and order count; Lower Manhattan converts the highest average order value ($4.81) despite fewer transactions.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CUSTOMER BEHAVIOUR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Rhythm of the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A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intensity by day and hour reveals two distinct customer missions.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3C2A2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7" name="Image 0" descr="/home/claude/coffee_deck/icon_z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505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13969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Commuter Rush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28800" y="2578608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hours dominate weekday sales — a clear commuter pattern concentrated around the 7–10 AM window.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3C2A21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379476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2" name="Image 1" descr="/home/claude/coffee_deck/icon_hea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95935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64845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Leisure Peak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4087368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late-mornings are the strongest window for leisure orders, distinct from the weekday commuter shape.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93776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3C2A21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5303520"/>
            <a:ext cx="640080" cy="640080"/>
          </a:xfrm>
          <a:prstGeom prst="ellipse">
            <a:avLst/>
          </a:prstGeom>
          <a:solidFill>
            <a:srgbClr val="E07A5F"/>
          </a:solidFill>
          <a:ln/>
        </p:spPr>
      </p:sp>
      <p:pic>
        <p:nvPicPr>
          <p:cNvPr id="17" name="Image 2" descr="/home/claude/coffee_deck/icon_targ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546811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5157216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Off-Peak Opportunity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28800" y="5596128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afternoons are prime real estate for promotional campaigns to smooth demand across the day.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AI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Focus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F7F1E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9928"/>
            <a:ext cx="438912" cy="438912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6" name="Image 0" descr="/home/claude/coffee_deck/icon_tren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1051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28216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286000"/>
            <a:ext cx="30998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 for top sellers; promote high-margin beverages at checkout; bundle coffee with bakery to lift basket size.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187952" y="1508760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F7F1E8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1709928"/>
            <a:ext cx="438912" cy="438912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11" name="Image 1" descr="/home/claude/coffee_deck/icon_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181051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65192" y="1728216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389120" y="2286000"/>
            <a:ext cx="30998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promotions during low-sales hours; launch weekday loyalty campaigns; target underperforming zones digitally.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27264" y="1508760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F7F1E8"/>
          </a:solidFill>
          <a:ln/>
        </p:spPr>
      </p:sp>
      <p:sp>
        <p:nvSpPr>
          <p:cNvPr id="15" name="Shape 11"/>
          <p:cNvSpPr/>
          <p:nvPr/>
        </p:nvSpPr>
        <p:spPr>
          <a:xfrm>
            <a:off x="8028432" y="1709928"/>
            <a:ext cx="438912" cy="438912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16" name="Image 2" descr="/home/claude/coffee_deck/icon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16" y="181051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04504" y="1728216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28432" y="2286000"/>
            <a:ext cx="30998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front-of-house staff 7–10 AM; reduce staffing during afternoon lulls; prioritize stock to top-performing stores.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F7F1E8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069080"/>
            <a:ext cx="438912" cy="438912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21" name="Image 3" descr="/home/claude/coffee_deck/icon_coffe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6966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087368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Strategy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4645152"/>
            <a:ext cx="30998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slow movers with limited-time offers; discontinue underperforming SKUs; launch seasonal drinks at peak months.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187952" y="3867912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F7F1E8"/>
          </a:solidFill>
          <a:ln/>
        </p:spPr>
      </p:sp>
      <p:sp>
        <p:nvSpPr>
          <p:cNvPr id="25" name="Shape 19"/>
          <p:cNvSpPr/>
          <p:nvPr/>
        </p:nvSpPr>
        <p:spPr>
          <a:xfrm>
            <a:off x="4389120" y="4069080"/>
            <a:ext cx="438912" cy="438912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26" name="Image 4" descr="/home/claude/coffee_deck/icon_he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416966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65192" y="4087368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389120" y="4645152"/>
            <a:ext cx="30998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tiered loyalty program; recommend from purchase history; upsell bakery items at checkout.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827264" y="3867912"/>
            <a:ext cx="3502152" cy="2194560"/>
          </a:xfrm>
          <a:prstGeom prst="roundRect">
            <a:avLst>
              <a:gd name="adj" fmla="val 3333"/>
            </a:avLst>
          </a:prstGeom>
          <a:solidFill>
            <a:srgbClr val="F7F1E8"/>
          </a:solidFill>
          <a:ln/>
        </p:spPr>
      </p:sp>
      <p:sp>
        <p:nvSpPr>
          <p:cNvPr id="30" name="Shape 23"/>
          <p:cNvSpPr/>
          <p:nvPr/>
        </p:nvSpPr>
        <p:spPr>
          <a:xfrm>
            <a:off x="8028432" y="4069080"/>
            <a:ext cx="438912" cy="438912"/>
          </a:xfrm>
          <a:prstGeom prst="ellipse">
            <a:avLst/>
          </a:prstGeom>
          <a:solidFill>
            <a:srgbClr val="3C2A21"/>
          </a:solidFill>
          <a:ln/>
        </p:spPr>
      </p:sp>
      <p:pic>
        <p:nvPicPr>
          <p:cNvPr id="31" name="Image 5" descr="/home/claude/coffee_deck/icon_ma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4169664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04504" y="4087368"/>
            <a:ext cx="2542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028432" y="4645152"/>
            <a:ext cx="309981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top store's operations for replication; investigate underperformers for menu-fit issues; test micro-locations.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· Sales Analytics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114800" cy="4114800"/>
          </a:xfrm>
          <a:prstGeom prst="ellipse">
            <a:avLst/>
          </a:prstGeom>
          <a:solidFill>
            <a:srgbClr val="3C2A2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EXECUTIVE 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One Page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generated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$698.8K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transactions between Jan 1 and Jun 30, 2023, moving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214,470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 units at an average ticket of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$4.69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Sustainably Grown Organic Lg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leads on revenue while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 Grey Rg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tops on volume. The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store outperforms the network with $236.5K in sales. Trade peaks around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AM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confirming a strong morning-commuter pattern, while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0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best-performing weekday overall.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3C2A2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187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8A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OPPORTUNITIES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10241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top-volume drinks with bakery items to lift average order value.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promotions during off-peak afternoons to smooth demand.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staffing with the hourly demand curve to protect margin during the morning rush.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Analytics · Dashboard generated from 149,116 transactions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C2A21">
              <a:alpha val="60000"/>
            </a:srgbClr>
          </a:solidFill>
          <a:ln/>
        </p:spPr>
      </p:sp>
      <p:pic>
        <p:nvPicPr>
          <p:cNvPr id="3" name="Image 0" descr="/home/claude/coffee_deck/icon_coffe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2860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375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A2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Sales Analytics · January – June 2023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2026-08-01T18:22:25Z</dcterms:created>
  <dcterms:modified xsi:type="dcterms:W3CDTF">2026-08-01T18:22:25Z</dcterms:modified>
</cp:coreProperties>
</file>